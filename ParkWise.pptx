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</p:sldIdLst>
  <p:sldSz cx="14630400" cy="8229600"/>
  <p:notesSz cx="8229600" cy="14630400"/>
  <p:embeddedFontLst>
    <p:embeddedFont>
      <p:font typeface="Source Sans 3" panose="020B0604020202020204" charset="0"/>
      <p:regular r:id="rId11"/>
    </p:embeddedFont>
    <p:embeddedFont>
      <p:font typeface="Source Serif 4 Semi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076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297644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ParkWise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776186"/>
            <a:ext cx="482822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Smart Parking Management System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5" y="4487108"/>
            <a:ext cx="713502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full-stack web application solving urban parking inefficiencies through real-time visibility, automated reservations, and intelligent analytics.</a:t>
            </a:r>
            <a:endParaRPr lang="en-US" sz="18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D05C73-4A90-61EC-1DE5-9F0969A90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876" y="256854"/>
            <a:ext cx="6028041" cy="77158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717" y="1036439"/>
            <a:ext cx="5394008" cy="657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The Parking Problem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82717" y="2007632"/>
            <a:ext cx="3684865" cy="2834283"/>
          </a:xfrm>
          <a:prstGeom prst="roundRect">
            <a:avLst>
              <a:gd name="adj" fmla="val 3314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936" y="2238851"/>
            <a:ext cx="670917" cy="67091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8483" y="2423398"/>
            <a:ext cx="301823" cy="30182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13936" y="3118604"/>
            <a:ext cx="263104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Driver Frustration</a:t>
            </a:r>
            <a:endParaRPr lang="en-US" sz="2050" dirty="0"/>
          </a:p>
        </p:txBody>
      </p:sp>
      <p:sp>
        <p:nvSpPr>
          <p:cNvPr id="8" name="Text 3"/>
          <p:cNvSpPr/>
          <p:nvPr/>
        </p:nvSpPr>
        <p:spPr>
          <a:xfrm>
            <a:off x="1013936" y="3572708"/>
            <a:ext cx="3222427" cy="103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 wasted searching for available spots without centralized visibility.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4676418" y="2007632"/>
            <a:ext cx="3684865" cy="2834283"/>
          </a:xfrm>
          <a:prstGeom prst="roundRect">
            <a:avLst>
              <a:gd name="adj" fmla="val 3314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637" y="2238851"/>
            <a:ext cx="670917" cy="670917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92184" y="2423398"/>
            <a:ext cx="301823" cy="30182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907637" y="3118604"/>
            <a:ext cx="263104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Operator Blindness</a:t>
            </a:r>
            <a:endParaRPr lang="en-US" sz="2050" dirty="0"/>
          </a:p>
        </p:txBody>
      </p:sp>
      <p:sp>
        <p:nvSpPr>
          <p:cNvPr id="13" name="Text 6"/>
          <p:cNvSpPr/>
          <p:nvPr/>
        </p:nvSpPr>
        <p:spPr>
          <a:xfrm>
            <a:off x="4907637" y="3572708"/>
            <a:ext cx="3222427" cy="103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real-time system for occupancy tracking, reservations, or usage analytics.</a:t>
            </a:r>
            <a:endParaRPr lang="en-US" sz="1750" dirty="0"/>
          </a:p>
        </p:txBody>
      </p:sp>
      <p:sp>
        <p:nvSpPr>
          <p:cNvPr id="14" name="Shape 7"/>
          <p:cNvSpPr/>
          <p:nvPr/>
        </p:nvSpPr>
        <p:spPr>
          <a:xfrm>
            <a:off x="782717" y="5050750"/>
            <a:ext cx="7578566" cy="2142292"/>
          </a:xfrm>
          <a:prstGeom prst="roundRect">
            <a:avLst>
              <a:gd name="adj" fmla="val 4385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936" y="5281970"/>
            <a:ext cx="670917" cy="670917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98483" y="5466517"/>
            <a:ext cx="301823" cy="30182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13936" y="6161723"/>
            <a:ext cx="263104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Manual Inefficiency</a:t>
            </a:r>
            <a:endParaRPr lang="en-US" sz="2050" dirty="0"/>
          </a:p>
        </p:txBody>
      </p:sp>
      <p:sp>
        <p:nvSpPr>
          <p:cNvPr id="18" name="Text 9"/>
          <p:cNvSpPr/>
          <p:nvPr/>
        </p:nvSpPr>
        <p:spPr>
          <a:xfrm>
            <a:off x="1013936" y="6615827"/>
            <a:ext cx="7116128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Slow billing, error-prone reporting, and poor communication channels.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146851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Project Objectives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7708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Core Goals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362087"/>
            <a:ext cx="3442335" cy="331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lot discovery and reservation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Transparent duration-based pricing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control over all operations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871561" y="27708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71561" y="3362087"/>
            <a:ext cx="3442335" cy="2166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CSV exports and reports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 analytics dashboards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Background task monitoring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Role-based access control</a:t>
            </a:r>
            <a:endParaRPr lang="en-US" sz="1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C8488C-9832-A8DF-7B06-E8F96C9E2A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8"/>
          <a:stretch>
            <a:fillRect/>
          </a:stretch>
        </p:blipFill>
        <p:spPr>
          <a:xfrm>
            <a:off x="8658938" y="896390"/>
            <a:ext cx="5632490" cy="64368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4019"/>
            <a:ext cx="3661053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System Architecture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793" y="1414820"/>
            <a:ext cx="8420695" cy="3954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31351" y="4367270"/>
            <a:ext cx="1738831" cy="21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Vue 3 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303749" y="4650190"/>
            <a:ext cx="2266434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SPA with Router, Pinia, Axios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9117516" y="3722650"/>
            <a:ext cx="1738831" cy="217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Flask API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17516" y="4005570"/>
            <a:ext cx="2208952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 endpoints with JWT auth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31223" y="3135513"/>
            <a:ext cx="1738831" cy="21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303620" y="3418432"/>
            <a:ext cx="2266434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SQLite via SQLAlchemy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17516" y="2441623"/>
            <a:ext cx="1738831" cy="21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Cache Layer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17516" y="2724542"/>
            <a:ext cx="2208952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Redis for sessions and caching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804920" y="1903755"/>
            <a:ext cx="1765262" cy="21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Background Workers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303749" y="2186674"/>
            <a:ext cx="2266434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Celery tasks for emails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37724" y="5451872"/>
            <a:ext cx="155496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5693331"/>
            <a:ext cx="6426875" cy="228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7724" y="5816798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Vue 3 SPA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37724" y="6106120"/>
            <a:ext cx="642687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 with Vue Router, Pinia state management, and Axios for API calls.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365683" y="5451872"/>
            <a:ext cx="155496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683" y="5693331"/>
            <a:ext cx="6426994" cy="228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65683" y="5816798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Flask REST API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365683" y="6106120"/>
            <a:ext cx="64269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 authentication, SQLAlchemy ORM, and role-based endpoint protection.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37724" y="6529268"/>
            <a:ext cx="155496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6755130"/>
            <a:ext cx="6426875" cy="228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7724" y="6894195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37724" y="7183517"/>
            <a:ext cx="642687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SQLite persistence with relational models for users, lots, spots, and reservations.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365683" y="6529268"/>
            <a:ext cx="155496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683" y="6755130"/>
            <a:ext cx="6426994" cy="228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65683" y="6894195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Async Processing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365683" y="7183517"/>
            <a:ext cx="64269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Celery workers with Redis broker handle CSV exports, reminders, and reports.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746" y="647938"/>
            <a:ext cx="4888825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Reservation Lifecycle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327" y="1572220"/>
            <a:ext cx="10547747" cy="41350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3777" y="1775011"/>
            <a:ext cx="1930882" cy="29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Available Spots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405549" y="1775011"/>
            <a:ext cx="1930882" cy="29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Reserved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05549" y="5212498"/>
            <a:ext cx="1930882" cy="29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Occupied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93777" y="5212498"/>
            <a:ext cx="1930882" cy="29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Released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4746" y="6063258"/>
            <a:ext cx="2356485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Core Business Rules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24746" y="6525220"/>
            <a:ext cx="6246138" cy="99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active reservation per user enforced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Spot occupancy status tracking (Available/Occupied)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cost calculation based on duration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67136" y="6063258"/>
            <a:ext cx="2356485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API Endpoints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567136" y="6525220"/>
            <a:ext cx="6246138" cy="99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 /api/reserve-spot to book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PUT /api/release-spot/{id} to release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state transitions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53346"/>
            <a:ext cx="676870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Performance &amp; Analytics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236113"/>
            <a:ext cx="4158734" cy="2184202"/>
          </a:xfrm>
          <a:prstGeom prst="roundRect">
            <a:avLst>
              <a:gd name="adj" fmla="val 669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ABA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44" y="2236113"/>
            <a:ext cx="121920" cy="21842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8959" y="25059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Redis Caching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98959" y="3001447"/>
            <a:ext cx="35277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Reduced database reads for parking lot lists, improving response times.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5773" y="2236113"/>
            <a:ext cx="4158734" cy="2184202"/>
          </a:xfrm>
          <a:prstGeom prst="roundRect">
            <a:avLst>
              <a:gd name="adj" fmla="val 669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ABAD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293" y="2236113"/>
            <a:ext cx="121920" cy="21842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97009" y="2505908"/>
            <a:ext cx="325326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Celery Background Jobs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97009" y="3001447"/>
            <a:ext cx="35277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Prevented API blocking for heavy operations like CSV generation.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9633823" y="2236113"/>
            <a:ext cx="4158853" cy="2184202"/>
          </a:xfrm>
          <a:prstGeom prst="roundRect">
            <a:avLst>
              <a:gd name="adj" fmla="val 669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ABAD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343" y="2236113"/>
            <a:ext cx="121920" cy="21842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95059" y="25059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Live Task Tracking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95059" y="3001447"/>
            <a:ext cx="35278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 polls task status every 2 seconds for real-time progress feedback.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37724" y="477928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Observable KPIs</a:t>
            </a:r>
            <a:endParaRPr lang="en-US" sz="2650" dirty="0"/>
          </a:p>
        </p:txBody>
      </p:sp>
      <p:sp>
        <p:nvSpPr>
          <p:cNvPr id="16" name="Text 11"/>
          <p:cNvSpPr/>
          <p:nvPr/>
        </p:nvSpPr>
        <p:spPr>
          <a:xfrm>
            <a:off x="837724" y="5775960"/>
            <a:ext cx="6185535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lots, spots, occupied vs available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Active reservations count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spending and duration profiles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7614761" y="5775960"/>
            <a:ext cx="6185535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and reservation trends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Lot utilization percentages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Task status monitoring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0258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Current Limitations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785348"/>
            <a:ext cx="6357818" cy="1801177"/>
          </a:xfrm>
          <a:prstGeom prst="roundRect">
            <a:avLst>
              <a:gd name="adj" fmla="val 558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A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7519" y="305514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State Inconsistency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7519" y="3550682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Reservation status naming varies (completed vs parked out) affecting computed summaries.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34858" y="2785348"/>
            <a:ext cx="6357818" cy="1801177"/>
          </a:xfrm>
          <a:prstGeom prst="roundRect">
            <a:avLst>
              <a:gd name="adj" fmla="val 558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A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04653" y="305514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Hardcoded URLs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04653" y="3550682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Mix of absolute (http://localhost:5000) and relative paths complicates deployment.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4825841"/>
            <a:ext cx="6357818" cy="1801177"/>
          </a:xfrm>
          <a:prstGeom prst="roundRect">
            <a:avLst>
              <a:gd name="adj" fmla="val 558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A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7519" y="50956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Secrets Management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07519" y="5591175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robust environment-based strategy for JWT keys and mail credentials yet.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7434858" y="4825841"/>
            <a:ext cx="6357818" cy="1801177"/>
          </a:xfrm>
          <a:prstGeom prst="roundRect">
            <a:avLst>
              <a:gd name="adj" fmla="val 558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AB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04653" y="50956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Testing Gap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04653" y="5591175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test suite or benchmark scripts for formal latency-throughput reporting.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3050" y="766763"/>
            <a:ext cx="4941094" cy="617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Future Roadmap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513076" y="1975485"/>
            <a:ext cx="209907" cy="944880"/>
          </a:xfrm>
          <a:prstGeom prst="roundRect">
            <a:avLst>
              <a:gd name="adj" fmla="val 42018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03050" y="1837730"/>
            <a:ext cx="629960" cy="629960"/>
          </a:xfrm>
          <a:prstGeom prst="roundRect">
            <a:avLst>
              <a:gd name="adj" fmla="val 72576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0569" y="1995249"/>
            <a:ext cx="314920" cy="314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17199" y="1870472"/>
            <a:ext cx="2470547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Payment Integration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117199" y="2289691"/>
            <a:ext cx="6696551" cy="315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payment gateway and invoice generation for complete transaction flow.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6827996" y="3419594"/>
            <a:ext cx="209907" cy="944880"/>
          </a:xfrm>
          <a:prstGeom prst="roundRect">
            <a:avLst>
              <a:gd name="adj" fmla="val 42018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617970" y="3281839"/>
            <a:ext cx="629960" cy="629960"/>
          </a:xfrm>
          <a:prstGeom prst="roundRect">
            <a:avLst>
              <a:gd name="adj" fmla="val 72576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75490" y="3439358"/>
            <a:ext cx="314920" cy="314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32119" y="3314581"/>
            <a:ext cx="2470547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Map Navigation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7432119" y="3733800"/>
            <a:ext cx="6381631" cy="315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Introduce geolocation-based lot discovery and turn-by-turn routing.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7143036" y="4863703"/>
            <a:ext cx="209907" cy="944880"/>
          </a:xfrm>
          <a:prstGeom prst="roundRect">
            <a:avLst>
              <a:gd name="adj" fmla="val 42018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933009" y="4725948"/>
            <a:ext cx="629960" cy="629960"/>
          </a:xfrm>
          <a:prstGeom prst="roundRect">
            <a:avLst>
              <a:gd name="adj" fmla="val 72576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90529" y="4883468"/>
            <a:ext cx="314920" cy="314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47159" y="4758690"/>
            <a:ext cx="2470547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Test Suite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7747159" y="5177909"/>
            <a:ext cx="6066592" cy="315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automated testing with CI pipeline for reliability.</a:t>
            </a:r>
            <a:endParaRPr lang="en-US" sz="1650" dirty="0"/>
          </a:p>
        </p:txBody>
      </p:sp>
      <p:sp>
        <p:nvSpPr>
          <p:cNvPr id="19" name="Shape 13"/>
          <p:cNvSpPr/>
          <p:nvPr/>
        </p:nvSpPr>
        <p:spPr>
          <a:xfrm>
            <a:off x="7457956" y="6307812"/>
            <a:ext cx="209907" cy="1154787"/>
          </a:xfrm>
          <a:prstGeom prst="roundRect">
            <a:avLst>
              <a:gd name="adj" fmla="val 42018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247930" y="6170057"/>
            <a:ext cx="629960" cy="629960"/>
          </a:xfrm>
          <a:prstGeom prst="roundRect">
            <a:avLst>
              <a:gd name="adj" fmla="val 72576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05449" y="6327577"/>
            <a:ext cx="314920" cy="314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62079" y="6202799"/>
            <a:ext cx="2470547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Containerization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8062079" y="6622018"/>
            <a:ext cx="5751671" cy="63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Docker Compose and Kubernetes for scalable, production-ready deployment.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450</Words>
  <Application>Microsoft Office PowerPoint</Application>
  <PresentationFormat>Custom</PresentationFormat>
  <Paragraphs>96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Source Serif 4 Semi Bold</vt:lpstr>
      <vt:lpstr>Source Sans 3</vt:lpstr>
      <vt:lpstr>Source Serif 4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Yuvraj Gupta</cp:lastModifiedBy>
  <cp:revision>2</cp:revision>
  <dcterms:created xsi:type="dcterms:W3CDTF">2026-02-27T04:07:36Z</dcterms:created>
  <dcterms:modified xsi:type="dcterms:W3CDTF">2026-02-27T04:18:34Z</dcterms:modified>
</cp:coreProperties>
</file>